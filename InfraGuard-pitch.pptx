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540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one-liner. Stress: simulated data, decision support, humans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framed for transport operators. Keep the incidents factual; no casualty figures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Top row is detection to decision; bottom row is decision to closed, evidenced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3D model. Select a flagged sensor; the real component lights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assessment stage. Right: engineer review with the generated report. Edits create new report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Decline returns to the engineer; further work returns to execution. Audit survives refresh and restart.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Reusability: configuration-driven. Only the bridge is active in the demo; wall and building configs exist but are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amounts are an illustrative base case for a 10-structure network. Say so out loud, then show the assumptions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Business Impact page. Per incident: engineer effort 9h to 3h. Per year: 211 lakh to 138 lakh for a 10-structure network. Say 'illustrative' out loud; time to flag is the only measured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the most time on ROI. The other four are shown live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Sensors tell you something changed. InfraGuard makes sure the right person acts, and can 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InfraGuard  ·  Team AKinators  ·  simulated-data prototype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A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A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ell/AppData/Local/Temp/claude/C--Users-Dell-Desktop-InfraGuard/29f3b90c-3065-42f9-9d33-5785e5cc1da7/scratchpad/pitch/hero3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0"/>
            <a:ext cx="51206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23360" y="0"/>
            <a:ext cx="457200" cy="5143500"/>
          </a:xfrm>
          <a:prstGeom prst="rect">
            <a:avLst/>
          </a:prstGeom>
          <a:solidFill>
            <a:srgbClr val="0B1626">
              <a:alpha val="65000"/>
            </a:srgbClr>
          </a:solidFill>
          <a:ln w="12700">
            <a:solidFill>
              <a:srgbClr val="0B162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57200" y="502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 HACKATHON  ·  MIT BENGALURU  ·  </a:t>
            </a:r>
            <a:r>
              <a:rPr lang="en-US" sz="1100" b="1" kern="0" spc="20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AKINATORS</a:t>
            </a:r>
            <a:br>
              <a:rPr lang="en-US" sz="1100" b="1" kern="0" spc="20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b="1" kern="0" spc="20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34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InfraGuard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48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early warning and accountability for transport infrastructure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91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sensor signal to a human-approved, evidenced, audited job.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434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shown is simulated. Decision support, not a safety certification.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structures are inspected on a calendar, not on condition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394960" cy="1042416"/>
          </a:xfrm>
          <a:prstGeom prst="roundRect">
            <a:avLst>
              <a:gd name="adj" fmla="val 7018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347472" cy="347472"/>
          </a:xfrm>
          <a:prstGeom prst="ellipse">
            <a:avLst/>
          </a:prstGeom>
          <a:solidFill>
            <a:srgbClr val="F5A524"/>
          </a:solidFill>
          <a:ln w="6350">
            <a:solidFill>
              <a:srgbClr val="F5A5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624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exist, decisions lag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099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sits in dashboards. No one owns the step from “something looks off” to a qualified decision.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5394960" cy="1042416"/>
          </a:xfrm>
          <a:prstGeom prst="roundRect">
            <a:avLst>
              <a:gd name="adj" fmla="val 7018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87752"/>
            <a:ext cx="347472" cy="347472"/>
          </a:xfrm>
          <a:prstGeom prst="ellipse">
            <a:avLst/>
          </a:prstGeom>
          <a:solidFill>
            <a:srgbClr val="F5A524"/>
          </a:solidFill>
          <a:ln w="6350">
            <a:solidFill>
              <a:srgbClr val="F5A5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87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5328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fatigue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880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heavy truck, a frozen sensor and a real structural change look alike to simple thresholds.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75304"/>
            <a:ext cx="5394960" cy="1042416"/>
          </a:xfrm>
          <a:prstGeom prst="roundRect">
            <a:avLst>
              <a:gd name="adj" fmla="val 7018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758184"/>
            <a:ext cx="347472" cy="347472"/>
          </a:xfrm>
          <a:prstGeom prst="ellipse">
            <a:avLst/>
          </a:prstGeom>
          <a:solidFill>
            <a:srgbClr val="F5A524"/>
          </a:solidFill>
          <a:ln w="6350">
            <a:solidFill>
              <a:srgbClr val="F5A5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chain of custody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0507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approved the work, who did it, and what evidence was accepted lives in emails and spreadsheets.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123444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1A2F4D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14630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Bridges, flyovers, viaducts, rail structures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423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such as Genoa (2018) and Morbi (2022) are reminders of what late action costs.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data. It is a governed path from signal to action.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A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InfraGuard: one governed pipeline from signal to closed job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704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 (five agents, one stage at a time)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426464" cy="1188720"/>
          </a:xfrm>
          <a:prstGeom prst="roundRect">
            <a:avLst>
              <a:gd name="adj" fmla="val 6154"/>
            </a:avLst>
          </a:prstGeom>
          <a:solidFill>
            <a:srgbClr val="13243B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727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29968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persistent change against each sensor’s own baseline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01952" y="1938528"/>
            <a:ext cx="237744" cy="219456"/>
          </a:xfrm>
          <a:prstGeom prst="rightArrow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57984" y="1463040"/>
            <a:ext cx="1426464" cy="1188720"/>
          </a:xfrm>
          <a:prstGeom prst="roundRect">
            <a:avLst>
              <a:gd name="adj" fmla="val 6154"/>
            </a:avLst>
          </a:prstGeom>
          <a:solidFill>
            <a:srgbClr val="13243B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9424" y="15727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49424" y="2029968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evidence, ranks cited hypotheses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02736" y="1938528"/>
            <a:ext cx="237744" cy="219456"/>
          </a:xfrm>
          <a:prstGeom prst="rightArrow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58768" y="1463040"/>
            <a:ext cx="1426464" cy="1188720"/>
          </a:xfrm>
          <a:prstGeom prst="roundRect">
            <a:avLst>
              <a:gd name="adj" fmla="val 6154"/>
            </a:avLst>
          </a:prstGeom>
          <a:solidFill>
            <a:srgbClr val="13243B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50208" y="15727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Prioritiser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2029968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priority with stated uncertainty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1938528"/>
            <a:ext cx="237744" cy="219456"/>
          </a:xfrm>
          <a:prstGeom prst="rightArrow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59552" y="1463040"/>
            <a:ext cx="1426464" cy="1188720"/>
          </a:xfrm>
          <a:prstGeom prst="roundRect">
            <a:avLst>
              <a:gd name="adj" fmla="val 6154"/>
            </a:avLst>
          </a:prstGeom>
          <a:solidFill>
            <a:srgbClr val="13243B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50992" y="15727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Planner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50992" y="2029968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work order and report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04304" y="1938528"/>
            <a:ext cx="237744" cy="219456"/>
          </a:xfrm>
          <a:prstGeom prst="rightArrow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0336" y="1463040"/>
            <a:ext cx="1426464" cy="1188720"/>
          </a:xfrm>
          <a:prstGeom prst="roundRect">
            <a:avLst>
              <a:gd name="adj" fmla="val 6154"/>
            </a:avLst>
          </a:prstGeom>
          <a:solidFill>
            <a:srgbClr val="13243B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51776" y="15727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51776" y="2029968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approves, edits or rejects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7706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4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 (work orders, stage by stage)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63240"/>
            <a:ext cx="1426464" cy="1188720"/>
          </a:xfrm>
          <a:prstGeom prst="roundRect">
            <a:avLst>
              <a:gd name="adj" fmla="val 6154"/>
            </a:avLst>
          </a:prstGeom>
          <a:solidFill>
            <a:srgbClr val="13243B"/>
          </a:solidFill>
          <a:ln w="9525">
            <a:solidFill>
              <a:srgbClr val="34D3B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1729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approves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630168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frozen, report issued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01952" y="3538728"/>
            <a:ext cx="237744" cy="219456"/>
          </a:xfrm>
          <a:prstGeom prst="rightArrow">
            <a:avLst/>
          </a:prstGeom>
          <a:solidFill>
            <a:srgbClr val="34D3B4"/>
          </a:solidFill>
          <a:ln w="12700">
            <a:solidFill>
              <a:srgbClr val="34D3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57984" y="3063240"/>
            <a:ext cx="1426464" cy="1188720"/>
          </a:xfrm>
          <a:prstGeom prst="roundRect">
            <a:avLst>
              <a:gd name="adj" fmla="val 6154"/>
            </a:avLst>
          </a:prstGeom>
          <a:solidFill>
            <a:srgbClr val="13243B"/>
          </a:solidFill>
          <a:ln w="9525">
            <a:solidFill>
              <a:srgbClr val="34D3B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49424" y="31729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accepts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249424" y="3630168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Declines go back to the engineer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02736" y="3538728"/>
            <a:ext cx="237744" cy="219456"/>
          </a:xfrm>
          <a:prstGeom prst="rightArrow">
            <a:avLst/>
          </a:prstGeom>
          <a:solidFill>
            <a:srgbClr val="34D3B4"/>
          </a:solidFill>
          <a:ln w="12700">
            <a:solidFill>
              <a:srgbClr val="34D3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58768" y="3063240"/>
            <a:ext cx="1426464" cy="1188720"/>
          </a:xfrm>
          <a:prstGeom prst="roundRect">
            <a:avLst>
              <a:gd name="adj" fmla="val 6154"/>
            </a:avLst>
          </a:prstGeom>
          <a:solidFill>
            <a:srgbClr val="13243B"/>
          </a:solidFill>
          <a:ln w="9525">
            <a:solidFill>
              <a:srgbClr val="34D3B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50208" y="31729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submitted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950208" y="3630168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note and PDF report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03520" y="3538728"/>
            <a:ext cx="237744" cy="219456"/>
          </a:xfrm>
          <a:prstGeom prst="rightArrow">
            <a:avLst/>
          </a:prstGeom>
          <a:solidFill>
            <a:srgbClr val="34D3B4"/>
          </a:solidFill>
          <a:ln w="12700">
            <a:solidFill>
              <a:srgbClr val="34D3B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59552" y="3063240"/>
            <a:ext cx="1426464" cy="1188720"/>
          </a:xfrm>
          <a:prstGeom prst="roundRect">
            <a:avLst>
              <a:gd name="adj" fmla="val 6154"/>
            </a:avLst>
          </a:prstGeom>
          <a:solidFill>
            <a:srgbClr val="13243B"/>
          </a:solidFill>
          <a:ln w="9525">
            <a:solidFill>
              <a:srgbClr val="34D3B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50992" y="31729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approved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650992" y="3630168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and investigation close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004304" y="3538728"/>
            <a:ext cx="237744" cy="219456"/>
          </a:xfrm>
          <a:prstGeom prst="rightArrow">
            <a:avLst/>
          </a:prstGeom>
          <a:solidFill>
            <a:srgbClr val="34D3B4"/>
          </a:solidFill>
          <a:ln w="12700">
            <a:solidFill>
              <a:srgbClr val="34D3B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60336" y="3063240"/>
            <a:ext cx="1426464" cy="1188720"/>
          </a:xfrm>
          <a:prstGeom prst="roundRect">
            <a:avLst>
              <a:gd name="adj" fmla="val 6154"/>
            </a:avLst>
          </a:prstGeom>
          <a:solidFill>
            <a:srgbClr val="13243B"/>
          </a:solidFill>
          <a:ln w="9525">
            <a:solidFill>
              <a:srgbClr val="34D3B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51776" y="31729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351776" y="3630168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step, actor and time recorded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389120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1A2F4D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43891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propose. Humans decide. InfraGuard never declares a structure safe.</a:t>
            </a:r>
            <a:endParaRPr lang="en-US" sz="13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A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that shows what is flagged, and exactly where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20624" y="1197864"/>
            <a:ext cx="5559552" cy="2561171"/>
          </a:xfrm>
          <a:prstGeom prst="rect">
            <a:avLst/>
          </a:prstGeom>
          <a:solidFill>
            <a:srgbClr val="2A4466"/>
          </a:solidFill>
          <a:ln w="6350">
            <a:solidFill>
              <a:srgbClr val="2A4466"/>
            </a:solidFill>
            <a:prstDash val="solid"/>
          </a:ln>
        </p:spPr>
      </p:sp>
      <p:pic>
        <p:nvPicPr>
          <p:cNvPr id="4" name="Image 0" descr="C:/Users/Dell/AppData/Local/Temp/claude/C--Users-Dell-Desktop-InfraGuard/29f3b90c-3065-42f9-9d33-5785e5cc1da7/scratchpad/pitch/hero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5486400" cy="248801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951059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A2F4D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4015067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4435691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on the model (simulated)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31720" y="3951059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A2F4D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41448" y="4015067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→ 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441448" y="4435691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grouped into one incident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06240" y="3951059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A2F4D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15968" y="4015067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315968" y="4435691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component highlighted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234440"/>
            <a:ext cx="2514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alarms become one incident, not four noisy alerts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affected component turns red; the panel shows the reading against its own baseline and why it was flagged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Strain, tilt and wind are context sensors: they support, they cannot alert alone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Heavy-vehicle spikes are logged as transients and never alert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A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investigation, then an engineer-approved work order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20624" y="1197864"/>
            <a:ext cx="4050792" cy="2559177"/>
          </a:xfrm>
          <a:prstGeom prst="rect">
            <a:avLst/>
          </a:prstGeom>
          <a:solidFill>
            <a:srgbClr val="2A4466"/>
          </a:solidFill>
          <a:ln w="6350">
            <a:solidFill>
              <a:srgbClr val="2A4466"/>
            </a:solidFill>
            <a:prstDash val="solid"/>
          </a:ln>
        </p:spPr>
      </p:sp>
      <p:pic>
        <p:nvPicPr>
          <p:cNvPr id="4" name="Image 0" descr="C:/Users/Dell/Desktop/InfraGuard/docs/screenshots/investigation-ste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3977640" cy="24860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72584" y="1197864"/>
            <a:ext cx="4050792" cy="2559177"/>
          </a:xfrm>
          <a:prstGeom prst="rect">
            <a:avLst/>
          </a:prstGeom>
          <a:solidFill>
            <a:srgbClr val="2A4466"/>
          </a:solidFill>
          <a:ln w="6350">
            <a:solidFill>
              <a:srgbClr val="2A4466"/>
            </a:solidFill>
            <a:prstDash val="solid"/>
          </a:ln>
        </p:spPr>
      </p:sp>
      <p:pic>
        <p:nvPicPr>
          <p:cNvPr id="6" name="Image 1" descr="C:/Users/Dell/Desktop/InfraGuard/docs/screenshots/wo-stage1-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234440"/>
            <a:ext cx="3977640" cy="248602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8404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Prioritiser: every contributing finding, rule factors, persistence and uncertainty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709160" y="38404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Planner report: versioned, editable by the engineer, printable to PDF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black box: every claim points to evidence, and nothing is authorised until an engineer approves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A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stages of accountability and one audit trail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29184" cy="329184"/>
          </a:xfrm>
          <a:prstGeom prst="ellipse">
            <a:avLst/>
          </a:prstGeom>
          <a:solidFill>
            <a:srgbClr val="34D3B4"/>
          </a:solidFill>
          <a:ln w="6350">
            <a:solidFill>
              <a:srgbClr val="34D3B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12344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review and approval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329184" cy="329184"/>
          </a:xfrm>
          <a:prstGeom prst="ellipse">
            <a:avLst/>
          </a:prstGeom>
          <a:solidFill>
            <a:srgbClr val="34D3B4"/>
          </a:solidFill>
          <a:ln w="6350">
            <a:solidFill>
              <a:srgbClr val="34D3B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17099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team, officer, due date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85416"/>
            <a:ext cx="329184" cy="329184"/>
          </a:xfrm>
          <a:prstGeom prst="ellipse">
            <a:avLst/>
          </a:prstGeom>
          <a:solidFill>
            <a:srgbClr val="34D3B4"/>
          </a:solidFill>
          <a:ln w="6350">
            <a:solidFill>
              <a:srgbClr val="34D3B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1854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accepts or declines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329184" cy="329184"/>
          </a:xfrm>
          <a:prstGeom prst="ellipse">
            <a:avLst/>
          </a:prstGeom>
          <a:solidFill>
            <a:srgbClr val="34D3B4"/>
          </a:solidFill>
          <a:ln w="6350">
            <a:solidFill>
              <a:srgbClr val="34D3B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266090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execution and progress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36392"/>
            <a:ext cx="329184" cy="329184"/>
          </a:xfrm>
          <a:prstGeom prst="ellipse">
            <a:avLst/>
          </a:prstGeom>
          <a:solidFill>
            <a:srgbClr val="34D3B4"/>
          </a:solidFill>
          <a:ln w="6350">
            <a:solidFill>
              <a:srgbClr val="34D3B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31363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note and PDF attachment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329184" cy="329184"/>
          </a:xfrm>
          <a:prstGeom prst="ellipse">
            <a:avLst/>
          </a:prstGeom>
          <a:solidFill>
            <a:srgbClr val="F5A524"/>
          </a:solidFill>
          <a:ln w="6350">
            <a:solidFill>
              <a:srgbClr val="F5A52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" y="36118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approves the evidence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87368"/>
            <a:ext cx="329184" cy="329184"/>
          </a:xfrm>
          <a:prstGeom prst="ellipse">
            <a:avLst/>
          </a:prstGeom>
          <a:solidFill>
            <a:srgbClr val="34D3B4"/>
          </a:solidFill>
          <a:ln w="6350">
            <a:solidFill>
              <a:srgbClr val="34D3B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4087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and investigation completed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43984" y="1197864"/>
            <a:ext cx="4279392" cy="2702052"/>
          </a:xfrm>
          <a:prstGeom prst="rect">
            <a:avLst/>
          </a:prstGeom>
          <a:solidFill>
            <a:srgbClr val="2A4466"/>
          </a:solidFill>
          <a:ln w="6350">
            <a:solidFill>
              <a:srgbClr val="2A4466"/>
            </a:solidFill>
            <a:prstDash val="solid"/>
          </a:ln>
        </p:spPr>
      </p:sp>
      <p:pic>
        <p:nvPicPr>
          <p:cNvPr id="25" name="Image 0" descr="C:/Users/Dell/Desktop/InfraGuard/docs/screenshots/audit-tr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234440"/>
            <a:ext cx="4206240" cy="26289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4480560" y="40005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custody: who, what, when, state before and after, report and evidence references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480560" y="44439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cannot approve their own work. Roles are enforced by the backend, and the log is read-only.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A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transport networks, reusable by configuration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62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4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 PROTOTYPE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bridges and flyovers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cable-stayed bridge with 9 simulated sensors: accelerometers, tilt, strain, wind, temperature.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362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bridges and viaducts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965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sensor families and the same investigation-to-evidence chain.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7797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DEFINED, SWITCHED OFF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Retaining walls and embankments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83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wall asset already exists in configuration and can be enabled without new UI.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6517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7797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DEFINED, SWITCHED OFF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and stations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383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building asset (tilt and temperature) also exists in configuration.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A2F4D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1148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asset needs a sensor configuration and a baseline. The agents, workflow, report and audit trail stay the same.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A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faster decisions, fewer wasted callouts, less downtime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289304"/>
            <a:ext cx="347472" cy="347472"/>
          </a:xfrm>
          <a:prstGeom prst="ellipse">
            <a:avLst/>
          </a:prstGeom>
          <a:solidFill>
            <a:srgbClr val="F5A524"/>
          </a:solidFill>
          <a:ln w="6350">
            <a:solidFill>
              <a:srgbClr val="F5A5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289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time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investigation and report drafting automated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2344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₹31 L / yr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929384"/>
            <a:ext cx="347472" cy="347472"/>
          </a:xfrm>
          <a:prstGeom prst="ellipse">
            <a:avLst/>
          </a:prstGeom>
          <a:solidFill>
            <a:srgbClr val="F5A524"/>
          </a:solidFill>
          <a:ln w="635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7452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unnecessary callouts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1214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rule and quality gate filter spikes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18745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₹12 L / yr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569464"/>
            <a:ext cx="347472" cy="347472"/>
          </a:xfrm>
          <a:prstGeom prst="ellipse">
            <a:avLst/>
          </a:prstGeom>
          <a:solidFill>
            <a:srgbClr val="F5A524"/>
          </a:solidFill>
          <a:ln w="6350">
            <a:solidFill>
              <a:srgbClr val="F5A5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569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51460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unplanned closure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7614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Earlier, prioritised intervention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2514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₹22 L / yr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209544"/>
            <a:ext cx="347472" cy="347472"/>
          </a:xfrm>
          <a:prstGeom prst="ellipse">
            <a:avLst/>
          </a:prstGeom>
          <a:solidFill>
            <a:srgbClr val="F5A524"/>
          </a:solidFill>
          <a:ln w="6350">
            <a:solidFill>
              <a:srgbClr val="F5A52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15468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Condition-based inspection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4015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Crews go where the data points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3154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₹7 L / yr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74904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3849624"/>
            <a:ext cx="347472" cy="347472"/>
          </a:xfrm>
          <a:prstGeom prst="ellipse">
            <a:avLst/>
          </a:prstGeom>
          <a:solidFill>
            <a:srgbClr val="F5A524"/>
          </a:solidFill>
          <a:ln w="6350">
            <a:solidFill>
              <a:srgbClr val="F5A52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379476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readiness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0416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 produced as a by-product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343400" y="37947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₹2 L / yr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715000" y="1188720"/>
            <a:ext cx="2971800" cy="3108960"/>
          </a:xfrm>
          <a:prstGeom prst="roundRect">
            <a:avLst>
              <a:gd name="adj" fmla="val 2462"/>
            </a:avLst>
          </a:prstGeom>
          <a:solidFill>
            <a:srgbClr val="1A2F4D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97880" y="12984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SIZE IT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897880" y="157276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benefit = sum of (volume × effect × unit cost) across the five levers. Amounts shown: base case for a 10-structure network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897880" y="2560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pays back if it avoids a set number of closure-hours or callouts a year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897880" y="3291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the prototype: 4 findings become 1 incident, and every step is timestamped and audited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estimates with stated assumptions (next slide), not measured savings. A pilot replaces them with the operator’s own data.</a:t>
            </a:r>
            <a:endParaRPr lang="en-US" sz="12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A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 process vs InfraGuard: time and money, live in the product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20624" y="1197864"/>
            <a:ext cx="4919472" cy="3043477"/>
          </a:xfrm>
          <a:prstGeom prst="rect">
            <a:avLst/>
          </a:prstGeom>
          <a:solidFill>
            <a:srgbClr val="2A4466"/>
          </a:solidFill>
          <a:ln w="6350">
            <a:solidFill>
              <a:srgbClr val="2A4466"/>
            </a:solidFill>
            <a:prstDash val="solid"/>
          </a:ln>
        </p:spPr>
      </p:sp>
      <p:pic>
        <p:nvPicPr>
          <p:cNvPr id="4" name="Image 0" descr="C:/Users/Dell/Desktop/InfraGuard/docs/screenshots/business-impact-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4846320" cy="29703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314493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page in the prototype (illustrative model)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532120" y="1188720"/>
            <a:ext cx="3154680" cy="1920240"/>
          </a:xfrm>
          <a:prstGeom prst="roundRect">
            <a:avLst>
              <a:gd name="adj" fmla="val 3810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0" y="12618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REAL INCIDENT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1517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effort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1517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 → 3 h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₹13,500 → ₹4,500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2139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2139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₹9,000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2450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₹34,000 → filtered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2761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flag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0" y="2761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(measured)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532120" y="324612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1A2F4D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69280" y="33192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· 10-STRUCTURE NETWORK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0" y="35478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₹211 L → ₹138 L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566928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≈ ₹73 L (35%), ≈ ₹53 L after a ₹20 L platform cost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conservative ≈ ₹37 L a year, optimistic ≈ ₹95 L. Illustrative assumptions, not measured savings; a pilot replaces them.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A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InfraGuard ticks every judging criterion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5B9DFF"/>
          </a:solidFill>
          <a:ln w="12700">
            <a:solidFill>
              <a:srgbClr val="5B9D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234440"/>
            <a:ext cx="5577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Configuration-driven assets: the same agents, workflow, report and audit trail serve bridges, viaducts, walls and buildings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34D3B4"/>
          </a:solidFill>
          <a:ln w="12700">
            <a:solidFill>
              <a:srgbClr val="34D3B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659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responsibility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1920240"/>
            <a:ext cx="5577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approve every consequential step, roles enforced by the backend, read-only audit trail, never certifies safety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A2F4D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51760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6517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and business value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606040"/>
            <a:ext cx="5577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value levers and an illustrative model (about ₹0.7 crore a year for a 10-structure network, assumptions shown); a pilot replaces it with real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337560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5B9DFF"/>
          </a:solidFill>
          <a:ln w="12700">
            <a:solidFill>
              <a:srgbClr val="5B9D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3375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readiness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291840"/>
            <a:ext cx="5577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 end to end; 70 tests and a 126-check browser journey; state, files and audit survive a restart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23360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34D3B4"/>
          </a:solidFill>
          <a:ln w="12700">
            <a:solidFill>
              <a:srgbClr val="34D3B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0233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Originality and innovation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3977640"/>
            <a:ext cx="5577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grouped into one incident and linked to 3D components; evidence-cited agent stages; detection-to-closure chain of custody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A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today, ready for a pilot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4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four-stage investigation, 3D twin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Seven-stage work orders with PDF evidence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reports, audit trail, Business Impact page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offline; survives restarts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backend tests, 126-check browser journey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72584" y="1152144"/>
            <a:ext cx="3639312" cy="2302002"/>
          </a:xfrm>
          <a:prstGeom prst="rect">
            <a:avLst/>
          </a:prstGeom>
          <a:solidFill>
            <a:srgbClr val="2A4466"/>
          </a:solidFill>
          <a:ln w="6350">
            <a:solidFill>
              <a:srgbClr val="2A4466"/>
            </a:solidFill>
            <a:prstDash val="solid"/>
          </a:ln>
        </p:spPr>
      </p:sp>
      <p:pic>
        <p:nvPicPr>
          <p:cNvPr id="7" name="Image 0" descr="C:/Users/Dell/Desktop/InfraGuard/docs/screenshots/3d-post-comple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188720"/>
            <a:ext cx="3566160" cy="22288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709160" y="352729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approval: a labelled, simulated post-completion state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84048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3243B"/>
          </a:solidFill>
          <a:ln w="9525">
            <a:solidFill>
              <a:srgbClr val="2A446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3913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413308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simulated; financials are illustrative until a pilot. Not a safety certification.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384048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A2F4D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92040" y="3913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41330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one real structure with the operator’s sensor feed; measure the KPIs.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A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1407</Words>
  <Application>Microsoft Office PowerPoint</Application>
  <PresentationFormat>On-screen Show (16:9)</PresentationFormat>
  <Paragraphs>186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AKinators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InfraGuard — AI early warning and accountability for transport infrastructure</dc:title>
  <dc:subject>PptxGenJS Presentation</dc:subject>
  <dc:creator>Team AKinators</dc:creator>
  <cp:lastModifiedBy>koushik shanbhag</cp:lastModifiedBy>
  <cp:revision>2</cp:revision>
  <dcterms:created xsi:type="dcterms:W3CDTF">2026-10-24T12:13:43Z</dcterms:created>
  <dcterms:modified xsi:type="dcterms:W3CDTF">2026-10-24T12:14:45Z</dcterms:modified>
</cp:coreProperties>
</file>