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8" d="100"/>
          <a:sy n="88" d="100"/>
        </p:scale>
        <p:origin x="66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F2F6FC"/>
                </a:solidFill>
                <a:latin typeface="Calibri"/>
              </a:defRPr>
            </a:pPr>
            <a:r>
              <a:rPr lang="en-GB" sz="1100" b="0" i="0" u="none" strike="noStrike">
                <a:solidFill>
                  <a:srgbClr val="F2F6FC"/>
                </a:solidFill>
                <a:latin typeface="Calibri"/>
              </a:rPr>
              <a:t>Cumulative net benefit (₹ lakh) by month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Conservative</c:v>
                </c:pt>
              </c:strCache>
            </c:strRef>
          </c:tx>
          <c:spPr>
            <a:ln w="31750" cap="flat">
              <a:solidFill>
                <a:srgbClr val="5B9DF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5B9DFF"/>
              </a:solidFill>
              <a:ln w="9525" cap="flat">
                <a:solidFill>
                  <a:srgbClr val="5B9DFF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0</c:v>
                </c:pt>
                <c:pt idx="1">
                  <c:v>6</c:v>
                </c:pt>
                <c:pt idx="2">
                  <c:v>12</c:v>
                </c:pt>
                <c:pt idx="3">
                  <c:v>18</c:v>
                </c:pt>
                <c:pt idx="4">
                  <c:v>24</c:v>
                </c:pt>
                <c:pt idx="5">
                  <c:v>30</c:v>
                </c:pt>
                <c:pt idx="6">
                  <c:v>36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-25</c:v>
                </c:pt>
                <c:pt idx="1">
                  <c:v>-16.600000000000001</c:v>
                </c:pt>
                <c:pt idx="2">
                  <c:v>-8.3000000000000007</c:v>
                </c:pt>
                <c:pt idx="3">
                  <c:v>0.1</c:v>
                </c:pt>
                <c:pt idx="4">
                  <c:v>8.4</c:v>
                </c:pt>
                <c:pt idx="5">
                  <c:v>16.8</c:v>
                </c:pt>
                <c:pt idx="6">
                  <c:v>25.1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531-44E0-B2C0-7869A091C7A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spPr>
            <a:ln w="31750" cap="flat">
              <a:solidFill>
                <a:srgbClr val="F5A524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F5A524"/>
              </a:solidFill>
              <a:ln w="9525" cap="flat">
                <a:solidFill>
                  <a:srgbClr val="F5A524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0</c:v>
                </c:pt>
                <c:pt idx="1">
                  <c:v>6</c:v>
                </c:pt>
                <c:pt idx="2">
                  <c:v>12</c:v>
                </c:pt>
                <c:pt idx="3">
                  <c:v>18</c:v>
                </c:pt>
                <c:pt idx="4">
                  <c:v>24</c:v>
                </c:pt>
                <c:pt idx="5">
                  <c:v>30</c:v>
                </c:pt>
                <c:pt idx="6">
                  <c:v>36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-25</c:v>
                </c:pt>
                <c:pt idx="1">
                  <c:v>1.7</c:v>
                </c:pt>
                <c:pt idx="2">
                  <c:v>28.4</c:v>
                </c:pt>
                <c:pt idx="3">
                  <c:v>55.1</c:v>
                </c:pt>
                <c:pt idx="4">
                  <c:v>81.8</c:v>
                </c:pt>
                <c:pt idx="5">
                  <c:v>108.5</c:v>
                </c:pt>
                <c:pt idx="6">
                  <c:v>135.19999999999999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531-44E0-B2C0-7869A091C7A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Optimistic</c:v>
                </c:pt>
              </c:strCache>
            </c:strRef>
          </c:tx>
          <c:spPr>
            <a:ln w="31750" cap="flat">
              <a:solidFill>
                <a:srgbClr val="34D3B4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34D3B4"/>
              </a:solidFill>
              <a:ln w="9525" cap="flat">
                <a:solidFill>
                  <a:srgbClr val="34D3B4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0</c:v>
                </c:pt>
                <c:pt idx="1">
                  <c:v>6</c:v>
                </c:pt>
                <c:pt idx="2">
                  <c:v>12</c:v>
                </c:pt>
                <c:pt idx="3">
                  <c:v>18</c:v>
                </c:pt>
                <c:pt idx="4">
                  <c:v>24</c:v>
                </c:pt>
                <c:pt idx="5">
                  <c:v>30</c:v>
                </c:pt>
                <c:pt idx="6">
                  <c:v>36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-25</c:v>
                </c:pt>
                <c:pt idx="1">
                  <c:v>12.6</c:v>
                </c:pt>
                <c:pt idx="2">
                  <c:v>50.2</c:v>
                </c:pt>
                <c:pt idx="3">
                  <c:v>87.7</c:v>
                </c:pt>
                <c:pt idx="4">
                  <c:v>125.3</c:v>
                </c:pt>
                <c:pt idx="5">
                  <c:v>162.9</c:v>
                </c:pt>
                <c:pt idx="6">
                  <c:v>200.5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531-44E0-B2C0-7869A091C7A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9BAD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A4466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9BAD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A9BAD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3443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one-liner. Stress: simulated data, decision support, humans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 framed for transport operators. Keep the incidents factual; no casualty figures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right. Top row is detection to decision; bottom row is decision to closed, evidenced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live 3D model. Select a flagged sensor; the real component lights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assessment stage. Right: engineer review with the generated report. Edits create new report versions.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Decline returns to the engineer; further work returns to execution. Audit survives refresh and restart.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Reusability: configuration-driven. Only the bridge is active in the demo; wall and building configs exist but are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amounts are an illustrative base case for a 10-structure network. Say so out loud, then show the assumptions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figure comes from the stated assumptions; change an assumption and the numbers change. Break-even logic: the system pays for itself if it avoids a modest share of the modelled closure-hours and callouts. A pilot replaces these inputs with the operator's own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the most time on ROI. The other four are shown live in the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Sensors tell you something changed. InfraGuard makes sure the right person acts, and can prove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B1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0B1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82803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InfraGuard  ·  Team AKinators  ·  simulated-data prototype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9BAD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9BAD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Dell/AppData/Local/Temp/claude/C--Users-Dell-Desktop-InfraGuard/29f3b90c-3065-42f9-9d33-5785e5cc1da7/scratchpad/pitch/hero3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023360" y="0"/>
            <a:ext cx="512064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023360" y="0"/>
            <a:ext cx="457200" cy="5143500"/>
          </a:xfrm>
          <a:prstGeom prst="rect">
            <a:avLst/>
          </a:prstGeom>
          <a:solidFill>
            <a:srgbClr val="0B1626">
              <a:alpha val="65000"/>
            </a:srgbClr>
          </a:solidFill>
          <a:ln w="12700">
            <a:solidFill>
              <a:srgbClr val="0B1626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457200" y="502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AGENTOPS HACKATHON  ·  MIT BENGALURU  ·  TEAM AKINATORS</a:t>
            </a:r>
            <a:br>
              <a:rPr lang="en-US" sz="1100" b="1" kern="0" spc="20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00" b="1" kern="0" spc="20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: TRANSPORT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23444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800" b="1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InfraGuard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14884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early warning and accountability for transport infrastructure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29184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i="1" dirty="0">
                <a:solidFill>
                  <a:srgbClr val="A9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sensor signal to a human-approved, evidenced, audited job.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4348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9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data shown is simulated. Decision support, not a safety certification.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structures are inspected on a calendar, not on condition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5394960" cy="1042416"/>
          </a:xfrm>
          <a:prstGeom prst="roundRect">
            <a:avLst>
              <a:gd name="adj" fmla="val 7018"/>
            </a:avLst>
          </a:prstGeom>
          <a:solidFill>
            <a:srgbClr val="13243B"/>
          </a:solidFill>
          <a:ln w="9525">
            <a:solidFill>
              <a:srgbClr val="2A446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417320"/>
            <a:ext cx="347472" cy="347472"/>
          </a:xfrm>
          <a:prstGeom prst="ellipse">
            <a:avLst/>
          </a:prstGeom>
          <a:solidFill>
            <a:srgbClr val="F5A524"/>
          </a:solidFill>
          <a:ln w="6350">
            <a:solidFill>
              <a:srgbClr val="F5A52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362456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exist, decisions lag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170992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A9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data sits in dashboards. No one owns the step from “something looks off” to a qualified decision.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404872"/>
            <a:ext cx="5394960" cy="1042416"/>
          </a:xfrm>
          <a:prstGeom prst="roundRect">
            <a:avLst>
              <a:gd name="adj" fmla="val 7018"/>
            </a:avLst>
          </a:prstGeom>
          <a:solidFill>
            <a:srgbClr val="13243B"/>
          </a:solidFill>
          <a:ln w="9525">
            <a:solidFill>
              <a:srgbClr val="2A446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587752"/>
            <a:ext cx="347472" cy="347472"/>
          </a:xfrm>
          <a:prstGeom prst="ellipse">
            <a:avLst/>
          </a:prstGeom>
          <a:solidFill>
            <a:srgbClr val="F5A524"/>
          </a:solidFill>
          <a:ln w="6350">
            <a:solidFill>
              <a:srgbClr val="F5A5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5877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253288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 fatigue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28803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A9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heavy truck, a frozen sensor and a real structural change look alike to simple thresholds.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575304"/>
            <a:ext cx="5394960" cy="1042416"/>
          </a:xfrm>
          <a:prstGeom prst="roundRect">
            <a:avLst>
              <a:gd name="adj" fmla="val 7018"/>
            </a:avLst>
          </a:prstGeom>
          <a:solidFill>
            <a:srgbClr val="13243B"/>
          </a:solidFill>
          <a:ln w="9525">
            <a:solidFill>
              <a:srgbClr val="2A44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758184"/>
            <a:ext cx="347472" cy="347472"/>
          </a:xfrm>
          <a:prstGeom prst="ellipse">
            <a:avLst/>
          </a:prstGeom>
          <a:solidFill>
            <a:srgbClr val="F5A524"/>
          </a:solidFill>
          <a:ln w="6350">
            <a:solidFill>
              <a:srgbClr val="F5A52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7581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3703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chain of custody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405079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A9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approved the work, who did it, and what evidence was accepted lives in emails and spreadsheets.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26480" y="1234440"/>
            <a:ext cx="2560320" cy="3383280"/>
          </a:xfrm>
          <a:prstGeom prst="roundRect">
            <a:avLst>
              <a:gd name="adj" fmla="val 2857"/>
            </a:avLst>
          </a:prstGeom>
          <a:solidFill>
            <a:srgbClr val="1A2F4D"/>
          </a:solidFill>
          <a:ln w="9525">
            <a:solidFill>
              <a:srgbClr val="2A446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55080" y="146304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Bridges, flyovers, viaducts, rail structures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355080" y="242316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Failures such as Genoa (2018) and Morbi (2022) are reminders of what late action costs.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355080" y="36576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A9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is not data. It is a governed path from signal to action.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9BAD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InfraGuard: one governed pipeline from signal to closed job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704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  (five agents, one stage at a time)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426464" cy="1188720"/>
          </a:xfrm>
          <a:prstGeom prst="roundRect">
            <a:avLst>
              <a:gd name="adj" fmla="val 6154"/>
            </a:avLst>
          </a:prstGeom>
          <a:solidFill>
            <a:srgbClr val="13243B"/>
          </a:solidFill>
          <a:ln w="9525">
            <a:solidFill>
              <a:srgbClr val="F5A52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7276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29968"/>
            <a:ext cx="1243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9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persistent change against each sensor’s own baseline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01952" y="1938528"/>
            <a:ext cx="237744" cy="219456"/>
          </a:xfrm>
          <a:prstGeom prst="rightArrow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157984" y="1463040"/>
            <a:ext cx="1426464" cy="1188720"/>
          </a:xfrm>
          <a:prstGeom prst="roundRect">
            <a:avLst>
              <a:gd name="adj" fmla="val 6154"/>
            </a:avLst>
          </a:prstGeom>
          <a:solidFill>
            <a:srgbClr val="13243B"/>
          </a:solidFill>
          <a:ln w="9525">
            <a:solidFill>
              <a:srgbClr val="F5A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249424" y="157276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Investigator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249424" y="2029968"/>
            <a:ext cx="1243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9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Gathers evidence, ranks cited hypotheses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02736" y="1938528"/>
            <a:ext cx="237744" cy="219456"/>
          </a:xfrm>
          <a:prstGeom prst="rightArrow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858768" y="1463040"/>
            <a:ext cx="1426464" cy="1188720"/>
          </a:xfrm>
          <a:prstGeom prst="roundRect">
            <a:avLst>
              <a:gd name="adj" fmla="val 6154"/>
            </a:avLst>
          </a:prstGeom>
          <a:solidFill>
            <a:srgbClr val="13243B"/>
          </a:solidFill>
          <a:ln w="9525">
            <a:solidFill>
              <a:srgbClr val="F5A52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950208" y="157276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Prioritiser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950208" y="2029968"/>
            <a:ext cx="1243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9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priority with stated uncertainty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303520" y="1938528"/>
            <a:ext cx="237744" cy="219456"/>
          </a:xfrm>
          <a:prstGeom prst="rightArrow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559552" y="1463040"/>
            <a:ext cx="1426464" cy="1188720"/>
          </a:xfrm>
          <a:prstGeom prst="roundRect">
            <a:avLst>
              <a:gd name="adj" fmla="val 6154"/>
            </a:avLst>
          </a:prstGeom>
          <a:solidFill>
            <a:srgbClr val="13243B"/>
          </a:solidFill>
          <a:ln w="9525">
            <a:solidFill>
              <a:srgbClr val="F5A52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50992" y="157276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Planner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650992" y="2029968"/>
            <a:ext cx="1243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9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the work order and report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004304" y="1938528"/>
            <a:ext cx="237744" cy="219456"/>
          </a:xfrm>
          <a:prstGeom prst="rightArrow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260336" y="1463040"/>
            <a:ext cx="1426464" cy="1188720"/>
          </a:xfrm>
          <a:prstGeom prst="roundRect">
            <a:avLst>
              <a:gd name="adj" fmla="val 6154"/>
            </a:avLst>
          </a:prstGeom>
          <a:solidFill>
            <a:srgbClr val="13243B"/>
          </a:solidFill>
          <a:ln w="9525">
            <a:solidFill>
              <a:srgbClr val="F5A52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51776" y="157276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decision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351776" y="2029968"/>
            <a:ext cx="1243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9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approves, edits or rejects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27706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34D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  (work orders, stage by stage)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3063240"/>
            <a:ext cx="1426464" cy="1188720"/>
          </a:xfrm>
          <a:prstGeom prst="roundRect">
            <a:avLst>
              <a:gd name="adj" fmla="val 6154"/>
            </a:avLst>
          </a:prstGeom>
          <a:solidFill>
            <a:srgbClr val="13243B"/>
          </a:solidFill>
          <a:ln w="9525">
            <a:solidFill>
              <a:srgbClr val="34D3B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317296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approves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630168"/>
            <a:ext cx="1243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9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frozen, report issued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901952" y="3538728"/>
            <a:ext cx="237744" cy="219456"/>
          </a:xfrm>
          <a:prstGeom prst="rightArrow">
            <a:avLst/>
          </a:prstGeom>
          <a:solidFill>
            <a:srgbClr val="34D3B4"/>
          </a:solidFill>
          <a:ln w="12700">
            <a:solidFill>
              <a:srgbClr val="34D3B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157984" y="3063240"/>
            <a:ext cx="1426464" cy="1188720"/>
          </a:xfrm>
          <a:prstGeom prst="roundRect">
            <a:avLst>
              <a:gd name="adj" fmla="val 6154"/>
            </a:avLst>
          </a:prstGeom>
          <a:solidFill>
            <a:srgbClr val="13243B"/>
          </a:solidFill>
          <a:ln w="9525">
            <a:solidFill>
              <a:srgbClr val="34D3B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249424" y="317296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 accepts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2249424" y="3630168"/>
            <a:ext cx="1243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9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Declines go back to the engineer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602736" y="3538728"/>
            <a:ext cx="237744" cy="219456"/>
          </a:xfrm>
          <a:prstGeom prst="rightArrow">
            <a:avLst/>
          </a:prstGeom>
          <a:solidFill>
            <a:srgbClr val="34D3B4"/>
          </a:solidFill>
          <a:ln w="12700">
            <a:solidFill>
              <a:srgbClr val="34D3B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858768" y="3063240"/>
            <a:ext cx="1426464" cy="1188720"/>
          </a:xfrm>
          <a:prstGeom prst="roundRect">
            <a:avLst>
              <a:gd name="adj" fmla="val 6154"/>
            </a:avLst>
          </a:prstGeom>
          <a:solidFill>
            <a:srgbClr val="13243B"/>
          </a:solidFill>
          <a:ln w="9525">
            <a:solidFill>
              <a:srgbClr val="34D3B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950208" y="317296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submitted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3950208" y="3630168"/>
            <a:ext cx="1243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9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Completion note and PDF report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303520" y="3538728"/>
            <a:ext cx="237744" cy="219456"/>
          </a:xfrm>
          <a:prstGeom prst="rightArrow">
            <a:avLst/>
          </a:prstGeom>
          <a:solidFill>
            <a:srgbClr val="34D3B4"/>
          </a:solidFill>
          <a:ln w="12700">
            <a:solidFill>
              <a:srgbClr val="34D3B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559552" y="3063240"/>
            <a:ext cx="1426464" cy="1188720"/>
          </a:xfrm>
          <a:prstGeom prst="roundRect">
            <a:avLst>
              <a:gd name="adj" fmla="val 6154"/>
            </a:avLst>
          </a:prstGeom>
          <a:solidFill>
            <a:srgbClr val="13243B"/>
          </a:solidFill>
          <a:ln w="9525">
            <a:solidFill>
              <a:srgbClr val="34D3B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50992" y="317296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approved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5650992" y="3630168"/>
            <a:ext cx="1243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9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and investigation close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004304" y="3538728"/>
            <a:ext cx="237744" cy="219456"/>
          </a:xfrm>
          <a:prstGeom prst="rightArrow">
            <a:avLst/>
          </a:prstGeom>
          <a:solidFill>
            <a:srgbClr val="34D3B4"/>
          </a:solidFill>
          <a:ln w="12700">
            <a:solidFill>
              <a:srgbClr val="34D3B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260336" y="3063240"/>
            <a:ext cx="1426464" cy="1188720"/>
          </a:xfrm>
          <a:prstGeom prst="roundRect">
            <a:avLst>
              <a:gd name="adj" fmla="val 6154"/>
            </a:avLst>
          </a:prstGeom>
          <a:solidFill>
            <a:srgbClr val="13243B"/>
          </a:solidFill>
          <a:ln w="9525">
            <a:solidFill>
              <a:srgbClr val="34D3B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351776" y="317296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7351776" y="3630168"/>
            <a:ext cx="12435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9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step, actor and time recorded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" y="4389120"/>
            <a:ext cx="8229600" cy="329184"/>
          </a:xfrm>
          <a:prstGeom prst="roundRect">
            <a:avLst>
              <a:gd name="adj" fmla="val 16667"/>
            </a:avLst>
          </a:prstGeom>
          <a:solidFill>
            <a:srgbClr val="1A2F4D"/>
          </a:solidFill>
          <a:ln w="9525">
            <a:solidFill>
              <a:srgbClr val="F5A524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57200" y="438912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propose. Humans decide. InfraGuard never declares a structure safe.</a:t>
            </a:r>
            <a:endParaRPr lang="en-US" sz="1300" dirty="0"/>
          </a:p>
        </p:txBody>
      </p:sp>
      <p:sp>
        <p:nvSpPr>
          <p:cNvPr id="4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9BAD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digital twin that shows what is flagged, and exactly where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20624" y="1197864"/>
            <a:ext cx="5559552" cy="2561171"/>
          </a:xfrm>
          <a:prstGeom prst="rect">
            <a:avLst/>
          </a:prstGeom>
          <a:solidFill>
            <a:srgbClr val="2A4466"/>
          </a:solidFill>
          <a:ln w="6350">
            <a:solidFill>
              <a:srgbClr val="2A4466"/>
            </a:solidFill>
            <a:prstDash val="solid"/>
          </a:ln>
        </p:spPr>
      </p:sp>
      <p:pic>
        <p:nvPicPr>
          <p:cNvPr id="4" name="Image 0" descr="C:/Users/Dell/AppData/Local/Temp/claude/C--Users-Dell-Desktop-InfraGuard/29f3b90c-3065-42f9-9d33-5785e5cc1da7/scratchpad/pitch/hero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4440"/>
            <a:ext cx="5486400" cy="248801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3951059"/>
            <a:ext cx="1737360" cy="868680"/>
          </a:xfrm>
          <a:prstGeom prst="roundRect">
            <a:avLst>
              <a:gd name="adj" fmla="val 8421"/>
            </a:avLst>
          </a:prstGeom>
          <a:solidFill>
            <a:srgbClr val="1A2F4D"/>
          </a:solidFill>
          <a:ln w="9525">
            <a:solidFill>
              <a:srgbClr val="2A446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66928" y="4015067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4435691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9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 on the model (simulated)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331720" y="3951059"/>
            <a:ext cx="1737360" cy="868680"/>
          </a:xfrm>
          <a:prstGeom prst="roundRect">
            <a:avLst>
              <a:gd name="adj" fmla="val 8421"/>
            </a:avLst>
          </a:prstGeom>
          <a:solidFill>
            <a:srgbClr val="1A2F4D"/>
          </a:solidFill>
          <a:ln w="9525">
            <a:solidFill>
              <a:srgbClr val="2A446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441448" y="4015067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→ 1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2441448" y="4435691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9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grouped into one incident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206240" y="3951059"/>
            <a:ext cx="1737360" cy="868680"/>
          </a:xfrm>
          <a:prstGeom prst="roundRect">
            <a:avLst>
              <a:gd name="adj" fmla="val 8421"/>
            </a:avLst>
          </a:prstGeom>
          <a:solidFill>
            <a:srgbClr val="1A2F4D"/>
          </a:solidFill>
          <a:ln w="9525">
            <a:solidFill>
              <a:srgbClr val="2A446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315968" y="4015067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4315968" y="4435691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9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component highlighted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6217920" y="1234440"/>
            <a:ext cx="25146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alarms become one incident, not four noisy alerts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affected component turns red; the panel shows the reading against its own baseline and why it was flagged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Strain, tilt and wind are context sensors: they support, they cannot alert alone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Heavy-vehicle spikes are logged as transients and never alert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9BAD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investigation, then an engineer-approved work order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20624" y="1197864"/>
            <a:ext cx="4050792" cy="2559177"/>
          </a:xfrm>
          <a:prstGeom prst="rect">
            <a:avLst/>
          </a:prstGeom>
          <a:solidFill>
            <a:srgbClr val="2A4466"/>
          </a:solidFill>
          <a:ln w="6350">
            <a:solidFill>
              <a:srgbClr val="2A4466"/>
            </a:solidFill>
            <a:prstDash val="solid"/>
          </a:ln>
        </p:spPr>
      </p:sp>
      <p:pic>
        <p:nvPicPr>
          <p:cNvPr id="4" name="Image 0" descr="C:/Users/Dell/Desktop/InfraGuard/docs/screenshots/investigation-step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4440"/>
            <a:ext cx="3977640" cy="248602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672584" y="1197864"/>
            <a:ext cx="4050792" cy="2559177"/>
          </a:xfrm>
          <a:prstGeom prst="rect">
            <a:avLst/>
          </a:prstGeom>
          <a:solidFill>
            <a:srgbClr val="2A4466"/>
          </a:solidFill>
          <a:ln w="6350">
            <a:solidFill>
              <a:srgbClr val="2A4466"/>
            </a:solidFill>
            <a:prstDash val="solid"/>
          </a:ln>
        </p:spPr>
      </p:sp>
      <p:pic>
        <p:nvPicPr>
          <p:cNvPr id="6" name="Image 1" descr="C:/Users/Dell/Desktop/InfraGuard/docs/screenshots/wo-stage1-re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1234440"/>
            <a:ext cx="3977640" cy="248602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384048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9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Prioritiser: every contributing finding, rule factors, persistence and uncertainty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4709160" y="384048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9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Planner report: versioned, editable by the engineer, printable to PDF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40740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black box: every claim points to evidence, and nothing is authorised until an engineer approves it.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9BAD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stages of accountability and one audit trail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329184" cy="329184"/>
          </a:xfrm>
          <a:prstGeom prst="ellipse">
            <a:avLst/>
          </a:prstGeom>
          <a:solidFill>
            <a:srgbClr val="34D3B4"/>
          </a:solidFill>
          <a:ln w="6350">
            <a:solidFill>
              <a:srgbClr val="34D3B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932688" y="123444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review and approval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709928"/>
            <a:ext cx="329184" cy="329184"/>
          </a:xfrm>
          <a:prstGeom prst="ellipse">
            <a:avLst/>
          </a:prstGeom>
          <a:solidFill>
            <a:srgbClr val="34D3B4"/>
          </a:solidFill>
          <a:ln w="6350">
            <a:solidFill>
              <a:srgbClr val="34D3B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099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170992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Assignment: team, officer, due date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185416"/>
            <a:ext cx="329184" cy="329184"/>
          </a:xfrm>
          <a:prstGeom prst="ellipse">
            <a:avLst/>
          </a:prstGeom>
          <a:solidFill>
            <a:srgbClr val="34D3B4"/>
          </a:solidFill>
          <a:ln w="6350">
            <a:solidFill>
              <a:srgbClr val="34D3B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185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932688" y="2185416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 accepts or declines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660904"/>
            <a:ext cx="329184" cy="329184"/>
          </a:xfrm>
          <a:prstGeom prst="ellipse">
            <a:avLst/>
          </a:prstGeom>
          <a:solidFill>
            <a:srgbClr val="34D3B4"/>
          </a:solidFill>
          <a:ln w="6350">
            <a:solidFill>
              <a:srgbClr val="34D3B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60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32688" y="266090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execution and progress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136392"/>
            <a:ext cx="329184" cy="329184"/>
          </a:xfrm>
          <a:prstGeom prst="ellipse">
            <a:avLst/>
          </a:prstGeom>
          <a:solidFill>
            <a:srgbClr val="34D3B4"/>
          </a:solidFill>
          <a:ln w="6350">
            <a:solidFill>
              <a:srgbClr val="34D3B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136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932688" y="3136392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Evidence: note and PDF attachment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611880"/>
            <a:ext cx="329184" cy="329184"/>
          </a:xfrm>
          <a:prstGeom prst="ellipse">
            <a:avLst/>
          </a:prstGeom>
          <a:solidFill>
            <a:srgbClr val="F5A524"/>
          </a:solidFill>
          <a:ln w="6350">
            <a:solidFill>
              <a:srgbClr val="F5A52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32688" y="361188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approves the evidence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4087368"/>
            <a:ext cx="329184" cy="329184"/>
          </a:xfrm>
          <a:prstGeom prst="ellipse">
            <a:avLst/>
          </a:prstGeom>
          <a:solidFill>
            <a:srgbClr val="34D3B4"/>
          </a:solidFill>
          <a:ln w="6350">
            <a:solidFill>
              <a:srgbClr val="34D3B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40873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32688" y="408736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and investigation completed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443984" y="1197864"/>
            <a:ext cx="4279392" cy="2702052"/>
          </a:xfrm>
          <a:prstGeom prst="rect">
            <a:avLst/>
          </a:prstGeom>
          <a:solidFill>
            <a:srgbClr val="2A4466"/>
          </a:solidFill>
          <a:ln w="6350">
            <a:solidFill>
              <a:srgbClr val="2A4466"/>
            </a:solidFill>
            <a:prstDash val="solid"/>
          </a:ln>
        </p:spPr>
      </p:sp>
      <p:pic>
        <p:nvPicPr>
          <p:cNvPr id="25" name="Image 0" descr="C:/Users/Dell/Desktop/InfraGuard/docs/screenshots/audit-tr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1234440"/>
            <a:ext cx="4206240" cy="2628900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4480560" y="40005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9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of custody: who, what, when, state before and after, report and evidence references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4480560" y="444398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Officers cannot approve their own work. Roles are enforced by the backend, and the log is read-only.</a:t>
            </a:r>
            <a:endParaRPr lang="en-US" sz="12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9BAD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transport networks, reusable by configuration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13243B"/>
          </a:solidFill>
          <a:ln w="9525">
            <a:solidFill>
              <a:srgbClr val="2A446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62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34D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IN PROTOTYPE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00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 bridges and flyovers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659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9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cable-stayed bridge with 9 simulated sensors: accelerometers, tilt, strain, wind, temperature.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23444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13243B"/>
          </a:solidFill>
          <a:ln w="9525">
            <a:solidFill>
              <a:srgbClr val="2A446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46320" y="1362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1600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 bridges and viaducts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19659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9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sensor families and the same investigation-to-evidence chain.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13243B"/>
          </a:solidFill>
          <a:ln w="9525">
            <a:solidFill>
              <a:srgbClr val="2A446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77977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5B9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DEFINED, SWITCHED OFF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017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Retaining walls and embankments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3832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9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wall asset already exists in configuration and can be enabled without new UI.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265176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13243B"/>
          </a:solidFill>
          <a:ln w="9525">
            <a:solidFill>
              <a:srgbClr val="2A446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46320" y="277977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5B9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DEFINED, SWITCHED OFF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3017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Buildings and stations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33832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9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building asset (tilt and temperature) also exists in configuration.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114800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1A2F4D"/>
          </a:solidFill>
          <a:ln w="9525">
            <a:solidFill>
              <a:srgbClr val="F5A52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411480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asset needs a sensor configuration and a baseline. The agents, workflow, report and audit trail stay the same.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9BAD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value: faster decisions, fewer wasted callouts, less downtime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029200" cy="548640"/>
          </a:xfrm>
          <a:prstGeom prst="roundRect">
            <a:avLst>
              <a:gd name="adj" fmla="val 13333"/>
            </a:avLst>
          </a:prstGeom>
          <a:solidFill>
            <a:srgbClr val="13243B"/>
          </a:solidFill>
          <a:ln w="9525">
            <a:solidFill>
              <a:srgbClr val="2A446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6928" y="1289304"/>
            <a:ext cx="347472" cy="347472"/>
          </a:xfrm>
          <a:prstGeom prst="ellipse">
            <a:avLst/>
          </a:prstGeom>
          <a:solidFill>
            <a:srgbClr val="F5A524"/>
          </a:solidFill>
          <a:ln w="6350">
            <a:solidFill>
              <a:srgbClr val="F5A52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2893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234440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time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1481328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9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Triage, investigation and report drafting automated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123444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₹31 L / yr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1828800"/>
            <a:ext cx="5029200" cy="548640"/>
          </a:xfrm>
          <a:prstGeom prst="roundRect">
            <a:avLst>
              <a:gd name="adj" fmla="val 13333"/>
            </a:avLst>
          </a:prstGeom>
          <a:solidFill>
            <a:srgbClr val="13243B"/>
          </a:solidFill>
          <a:ln w="9525">
            <a:solidFill>
              <a:srgbClr val="2A44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6928" y="1929384"/>
            <a:ext cx="347472" cy="347472"/>
          </a:xfrm>
          <a:prstGeom prst="ellipse">
            <a:avLst/>
          </a:prstGeom>
          <a:solidFill>
            <a:srgbClr val="F5A524"/>
          </a:solidFill>
          <a:ln w="6350">
            <a:solidFill>
              <a:srgbClr val="F5A5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" y="19293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1874520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unnecessary callouts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121408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9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 rule and quality gate filter spikes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343400" y="187452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₹12 L / yr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468880"/>
            <a:ext cx="5029200" cy="548640"/>
          </a:xfrm>
          <a:prstGeom prst="roundRect">
            <a:avLst>
              <a:gd name="adj" fmla="val 13333"/>
            </a:avLst>
          </a:prstGeom>
          <a:solidFill>
            <a:srgbClr val="13243B"/>
          </a:solidFill>
          <a:ln w="9525">
            <a:solidFill>
              <a:srgbClr val="2A44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66928" y="2569464"/>
            <a:ext cx="347472" cy="347472"/>
          </a:xfrm>
          <a:prstGeom prst="ellipse">
            <a:avLst/>
          </a:prstGeom>
          <a:solidFill>
            <a:srgbClr val="F5A524"/>
          </a:solidFill>
          <a:ln w="6350">
            <a:solidFill>
              <a:srgbClr val="F5A52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694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2514600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unplanned closure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051560" y="2761488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9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Earlier, prioritised intervention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343400" y="251460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₹22 L / yr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3108960"/>
            <a:ext cx="5029200" cy="548640"/>
          </a:xfrm>
          <a:prstGeom prst="roundRect">
            <a:avLst>
              <a:gd name="adj" fmla="val 13333"/>
            </a:avLst>
          </a:prstGeom>
          <a:solidFill>
            <a:srgbClr val="13243B"/>
          </a:solidFill>
          <a:ln w="9525">
            <a:solidFill>
              <a:srgbClr val="2A44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3209544"/>
            <a:ext cx="347472" cy="347472"/>
          </a:xfrm>
          <a:prstGeom prst="ellipse">
            <a:avLst/>
          </a:prstGeom>
          <a:solidFill>
            <a:srgbClr val="F5A524"/>
          </a:solidFill>
          <a:ln w="6350">
            <a:solidFill>
              <a:srgbClr val="F5A52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66928" y="32095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51560" y="3154680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Condition-based inspection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051560" y="3401568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9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Crews go where the data points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343400" y="315468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₹7 L / yr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7200" y="3749040"/>
            <a:ext cx="5029200" cy="548640"/>
          </a:xfrm>
          <a:prstGeom prst="roundRect">
            <a:avLst>
              <a:gd name="adj" fmla="val 13333"/>
            </a:avLst>
          </a:prstGeom>
          <a:solidFill>
            <a:srgbClr val="13243B"/>
          </a:solidFill>
          <a:ln w="9525">
            <a:solidFill>
              <a:srgbClr val="2A44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6928" y="3849624"/>
            <a:ext cx="347472" cy="347472"/>
          </a:xfrm>
          <a:prstGeom prst="ellipse">
            <a:avLst/>
          </a:prstGeom>
          <a:solidFill>
            <a:srgbClr val="F5A524"/>
          </a:solidFill>
          <a:ln w="6350">
            <a:solidFill>
              <a:srgbClr val="F5A52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849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1051560" y="3794760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readiness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051560" y="4041648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9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of custody produced as a by-product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343400" y="379476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₹2 L / yr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715000" y="1188720"/>
            <a:ext cx="2971800" cy="3108960"/>
          </a:xfrm>
          <a:prstGeom prst="roundRect">
            <a:avLst>
              <a:gd name="adj" fmla="val 2462"/>
            </a:avLst>
          </a:prstGeom>
          <a:solidFill>
            <a:srgbClr val="1A2F4D"/>
          </a:solidFill>
          <a:ln w="9525">
            <a:solidFill>
              <a:srgbClr val="F5A52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897880" y="1298448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SIZE IT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5897880" y="1572768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benefit = sum of (volume × effect × unit cost) across the five levers. Amounts shown: base case for a 10-structure network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5897880" y="256032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Break-even: pays back if it avoids a set number of closure-hours or callouts a year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5897880" y="32918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34D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in the prototype: 4 findings become 1 incident, and every step is timestamped and audited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44074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estimates with stated assumptions (next slide), not measured savings. A pilot replaces them with the operator’s own data.</a:t>
            </a:r>
            <a:endParaRPr lang="en-US" sz="1200" dirty="0"/>
          </a:p>
        </p:txBody>
      </p:sp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9BAD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impact: time and money, with every assumption stated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1A2F4D"/>
          </a:solidFill>
          <a:ln w="9525">
            <a:solidFill>
              <a:srgbClr val="F5A52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66928" y="125272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₹73 L / yr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6459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9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benefit, base case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542032" y="1188720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13243B"/>
          </a:solidFill>
          <a:ln w="9525">
            <a:solidFill>
              <a:srgbClr val="2A446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51760" y="125272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2170 h / yr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459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9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effort saved (about 1.2 full-time person)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26864" y="1188720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13243B"/>
          </a:solidFill>
          <a:ln w="9525">
            <a:solidFill>
              <a:srgbClr val="2A446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736592" y="125272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6 months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736592" y="16459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9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on ₹25 L setup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711696" y="1188720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13243B"/>
          </a:solidFill>
          <a:ln w="9525">
            <a:solidFill>
              <a:srgbClr val="2A446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21424" y="125272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₹1.35 cr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821424" y="16459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9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benefit over 3 years</a:t>
            </a:r>
            <a:endParaRPr lang="en-US" sz="1050" dirty="0"/>
          </a:p>
        </p:txBody>
      </p:sp>
      <p:graphicFrame>
        <p:nvGraphicFramePr>
          <p:cNvPr id="15" name="Chart 0"/>
          <p:cNvGraphicFramePr/>
          <p:nvPr/>
        </p:nvGraphicFramePr>
        <p:xfrm>
          <a:off x="365760" y="2240280"/>
          <a:ext cx="493776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6" name="Shape 13"/>
          <p:cNvSpPr/>
          <p:nvPr/>
        </p:nvSpPr>
        <p:spPr>
          <a:xfrm>
            <a:off x="5440680" y="2240280"/>
            <a:ext cx="3246120" cy="2286000"/>
          </a:xfrm>
          <a:prstGeom prst="roundRect">
            <a:avLst>
              <a:gd name="adj" fmla="val 3200"/>
            </a:avLst>
          </a:prstGeom>
          <a:solidFill>
            <a:srgbClr val="13243B"/>
          </a:solidFill>
          <a:ln w="9525">
            <a:solidFill>
              <a:srgbClr val="2A446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577840" y="2313432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ASSUMPTIONS (10-structure network)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5577840" y="2578608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alerts a month, 6 h manual triage each, 60% saved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needless callouts a month at ₹25,000; half avoided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unplanned closures a year, 36 h at ₹60,000 per hour; a quarter avoided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cost ₹1,500 per hour; platform ₹20 L a year; setup ₹25 L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45445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Range: conservative (half the effect) ₹37 L a year, payback ≈ 18 months  ·  optimistic ₹95 L a year, payback ≈ 4 months. Illustrative, not measured.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9BAD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InfraGuard ticks every judging criterion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603504"/>
          </a:xfrm>
          <a:prstGeom prst="roundRect">
            <a:avLst>
              <a:gd name="adj" fmla="val 12121"/>
            </a:avLst>
          </a:prstGeom>
          <a:solidFill>
            <a:srgbClr val="13243B"/>
          </a:solidFill>
          <a:ln w="9525">
            <a:solidFill>
              <a:srgbClr val="2A446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280160"/>
            <a:ext cx="2286000" cy="420624"/>
          </a:xfrm>
          <a:prstGeom prst="roundRect">
            <a:avLst>
              <a:gd name="adj" fmla="val 13043"/>
            </a:avLst>
          </a:prstGeom>
          <a:solidFill>
            <a:srgbClr val="5B9DFF"/>
          </a:solidFill>
          <a:ln w="12700">
            <a:solidFill>
              <a:srgbClr val="5B9D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28016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Reusability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017520" y="1234440"/>
            <a:ext cx="5577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Configuration-driven assets: the same agents, workflow, report and audit trail serve bridges, viaducts, walls and buildings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8229600" cy="603504"/>
          </a:xfrm>
          <a:prstGeom prst="roundRect">
            <a:avLst>
              <a:gd name="adj" fmla="val 12121"/>
            </a:avLst>
          </a:prstGeom>
          <a:solidFill>
            <a:srgbClr val="13243B"/>
          </a:solidFill>
          <a:ln w="9525">
            <a:solidFill>
              <a:srgbClr val="2A446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965960"/>
            <a:ext cx="2286000" cy="420624"/>
          </a:xfrm>
          <a:prstGeom prst="roundRect">
            <a:avLst>
              <a:gd name="adj" fmla="val 13043"/>
            </a:avLst>
          </a:prstGeom>
          <a:solidFill>
            <a:srgbClr val="34D3B4"/>
          </a:solidFill>
          <a:ln w="12700">
            <a:solidFill>
              <a:srgbClr val="34D3B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96596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and responsibility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017520" y="1920240"/>
            <a:ext cx="5577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Humans approve every consequential step, roles enforced by the backend, read-only audit trail, never certifies safety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560320"/>
            <a:ext cx="8229600" cy="603504"/>
          </a:xfrm>
          <a:prstGeom prst="roundRect">
            <a:avLst>
              <a:gd name="adj" fmla="val 12121"/>
            </a:avLst>
          </a:prstGeom>
          <a:solidFill>
            <a:srgbClr val="1A2F4D"/>
          </a:solidFill>
          <a:ln w="9525">
            <a:solidFill>
              <a:srgbClr val="F5A52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651760"/>
            <a:ext cx="2286000" cy="420624"/>
          </a:xfrm>
          <a:prstGeom prst="roundRect">
            <a:avLst>
              <a:gd name="adj" fmla="val 13043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65176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and business value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17520" y="2606040"/>
            <a:ext cx="5577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value levers and an illustrative model (about ₹0.7 crore a year for a 10-structure network, assumptions shown); a pilot replaces it with real data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8229600" cy="603504"/>
          </a:xfrm>
          <a:prstGeom prst="roundRect">
            <a:avLst>
              <a:gd name="adj" fmla="val 12121"/>
            </a:avLst>
          </a:prstGeom>
          <a:solidFill>
            <a:srgbClr val="13243B"/>
          </a:solidFill>
          <a:ln w="9525">
            <a:solidFill>
              <a:srgbClr val="2A44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3337560"/>
            <a:ext cx="2286000" cy="420624"/>
          </a:xfrm>
          <a:prstGeom prst="roundRect">
            <a:avLst>
              <a:gd name="adj" fmla="val 13043"/>
            </a:avLst>
          </a:prstGeom>
          <a:solidFill>
            <a:srgbClr val="5B9DFF"/>
          </a:solidFill>
          <a:ln w="12700">
            <a:solidFill>
              <a:srgbClr val="5B9D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33756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readiness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017520" y="3291840"/>
            <a:ext cx="5577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offline end to end; 70 tests and a 119-check browser journey; state, files and audit survive a restart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8229600" cy="603504"/>
          </a:xfrm>
          <a:prstGeom prst="roundRect">
            <a:avLst>
              <a:gd name="adj" fmla="val 12121"/>
            </a:avLst>
          </a:prstGeom>
          <a:solidFill>
            <a:srgbClr val="13243B"/>
          </a:solidFill>
          <a:ln w="9525">
            <a:solidFill>
              <a:srgbClr val="2A44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4023360"/>
            <a:ext cx="2286000" cy="420624"/>
          </a:xfrm>
          <a:prstGeom prst="roundRect">
            <a:avLst>
              <a:gd name="adj" fmla="val 13043"/>
            </a:avLst>
          </a:prstGeom>
          <a:solidFill>
            <a:srgbClr val="34D3B4"/>
          </a:solidFill>
          <a:ln w="12700">
            <a:solidFill>
              <a:srgbClr val="34D3B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02336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Originality and innovation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017520" y="3977640"/>
            <a:ext cx="5577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grouped into one incident and linked to 3D components; evidence-cited agent stages; detection-to-closure chain of custody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9BAD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today, ready for a pilot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13243B"/>
          </a:solidFill>
          <a:ln w="9525">
            <a:solidFill>
              <a:srgbClr val="2A446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2984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34D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TODAY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00200"/>
            <a:ext cx="3703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Detection, four-stage investigation, 3D twin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Seven-stage work orders with PDF evidence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reports and read-only audit trail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fully offline; survives restarts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backend tests, 119-check browser journey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72584" y="1152144"/>
            <a:ext cx="3639312" cy="2302002"/>
          </a:xfrm>
          <a:prstGeom prst="rect">
            <a:avLst/>
          </a:prstGeom>
          <a:solidFill>
            <a:srgbClr val="2A4466"/>
          </a:solidFill>
          <a:ln w="6350">
            <a:solidFill>
              <a:srgbClr val="2A4466"/>
            </a:solidFill>
            <a:prstDash val="solid"/>
          </a:ln>
        </p:spPr>
      </p:sp>
      <p:pic>
        <p:nvPicPr>
          <p:cNvPr id="7" name="Image 0" descr="C:/Users/Dell/Desktop/InfraGuard/docs/screenshots/3d-post-comple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1188720"/>
            <a:ext cx="3566160" cy="222885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709160" y="3527298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9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approval: a labelled, simulated post-completion state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3840480"/>
            <a:ext cx="4023360" cy="868680"/>
          </a:xfrm>
          <a:prstGeom prst="roundRect">
            <a:avLst>
              <a:gd name="adj" fmla="val 8421"/>
            </a:avLst>
          </a:prstGeom>
          <a:solidFill>
            <a:srgbClr val="13243B"/>
          </a:solidFill>
          <a:ln w="9525">
            <a:solidFill>
              <a:srgbClr val="2A446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39136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LIMITS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4133088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9BA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simulated; financials are illustrative until a pilot. Not a safety certification.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709160" y="3840480"/>
            <a:ext cx="3977640" cy="868680"/>
          </a:xfrm>
          <a:prstGeom prst="roundRect">
            <a:avLst>
              <a:gd name="adj" fmla="val 8421"/>
            </a:avLst>
          </a:prstGeom>
          <a:solidFill>
            <a:srgbClr val="1A2F4D"/>
          </a:solidFill>
          <a:ln w="9525">
            <a:solidFill>
              <a:srgbClr val="F5A52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892040" y="39136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4892040" y="4133088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F2F6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on one real structure with the operator’s sensor feed; measure the KPIs.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A9BAD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1455</Words>
  <Application>Microsoft Office PowerPoint</Application>
  <PresentationFormat>On-screen Show (16:9)</PresentationFormat>
  <Paragraphs>185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AKinators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InfraGuard — AI early warning and accountability for transport infrastructure</dc:title>
  <dc:subject>PptxGenJS Presentation</dc:subject>
  <dc:creator>Team AKinators</dc:creator>
  <cp:lastModifiedBy>koushik shanbhag</cp:lastModifiedBy>
  <cp:revision>2</cp:revision>
  <dcterms:created xsi:type="dcterms:W3CDTF">2026-10-24T10:53:51Z</dcterms:created>
  <dcterms:modified xsi:type="dcterms:W3CDTF">2026-10-24T10:56:57Z</dcterms:modified>
</cp:coreProperties>
</file>